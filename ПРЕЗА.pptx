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3859978"/>
            <a:ext cx="9144000" cy="1283522"/>
          </a:xfrm>
          <a:prstGeom prst="rect">
            <a:avLst/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POLY</a:t>
            </a:r>
            <a:endParaRPr lang="en-US" sz="88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NATION</a:t>
            </a:r>
            <a:endParaRPr lang="en-US" sz="8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510921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97488" y="4644849"/>
            <a:ext cx="2286000" cy="53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ОНЛАЙН</a:t>
            </a:r>
            <a:r>
              <a:rPr lang="en-US" sz="900" b="1" kern="0" spc="300" dirty="0">
                <a:solidFill>
                  <a:srgbClr val="FFFFFF"/>
                </a:solidFill>
                <a:latin typeface="Aptos Narrow" panose="020B0004020202020204" pitchFamily="34" charset="0"/>
                <a:ea typeface="Arial Black" pitchFamily="34" charset="-122"/>
                <a:cs typeface="Arial" panose="020B0604020202020204" pitchFamily="34" charset="0"/>
              </a:rPr>
              <a:t> </a:t>
            </a:r>
            <a:r>
              <a:rPr lang="en-US" sz="900" kern="0" spc="300" dirty="0"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ПЛОЩАДКА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1159" y="266776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B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Интерактивное приложение для изучения стран мира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06219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Работу выполнили: Павлычев Артем, Тарасова Елизавета, Черкунов Владислав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54117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проекта: Непретимов Александр</a:t>
            </a:r>
            <a:endParaRPr lang="en-US" sz="1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ИДЕЯ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8229600" cy="36576"/>
          </a:xfrm>
          <a:prstGeom prst="rect">
            <a:avLst/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Интерактивная карта мира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Интерактивная карта мира, где пользователь изучает страны: столицы, флаги, границы, краткую информацию про культурные особенности, исторические факты, традиции, достижения в музыке, кино и спорте, видит актуальные цены на авиабилеты от своей геолокации и может отмечать страны, где уже побывал. Функционал позволяет закреплять знания через систему тестов и </a:t>
            </a:r>
            <a:r>
              <a:rPr lang="en-US" sz="14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соревновательны</a:t>
            </a:r>
            <a:r>
              <a:rPr lang="ru-RU" sz="14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</a:t>
            </a:r>
            <a:r>
              <a:rPr lang="en-US" sz="14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r>
              <a:rPr lang="ru-RU" sz="14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ы</a:t>
            </a:r>
            <a:r>
              <a:rPr lang="en-US" sz="14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30" name="Tag1"/>
          <p:cNvSpPr/>
          <p:nvPr/>
        </p:nvSpPr>
        <p:spPr>
          <a:xfrm>
            <a:off x="457200" y="43432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31E24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ru-RU" sz="900" b="1" dirty="0">
                <a:solidFill>
                  <a:srgbClr val="FFFFFF"/>
                </a:solidFill>
                <a:latin typeface="Arial" pitchFamily="34" charset="0"/>
              </a:rPr>
              <a:t> Карта мира</a:t>
            </a:r>
          </a:p>
        </p:txBody>
      </p:sp>
      <p:sp>
        <p:nvSpPr>
          <p:cNvPr id="31" name="Tag2"/>
          <p:cNvSpPr/>
          <p:nvPr/>
        </p:nvSpPr>
        <p:spPr>
          <a:xfrm>
            <a:off x="1920240" y="43432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ru-RU" sz="900" b="1" dirty="0">
                <a:solidFill>
                  <a:srgbClr val="FFFFFF"/>
                </a:solidFill>
                <a:latin typeface="Arial" pitchFamily="34" charset="0"/>
              </a:rPr>
              <a:t>Культура и спорт</a:t>
            </a:r>
          </a:p>
        </p:txBody>
      </p:sp>
      <p:sp>
        <p:nvSpPr>
          <p:cNvPr id="32" name="Tag3"/>
          <p:cNvSpPr/>
          <p:nvPr/>
        </p:nvSpPr>
        <p:spPr>
          <a:xfrm>
            <a:off x="3566160" y="43432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31E24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ru-RU" sz="900" b="1" dirty="0">
                <a:solidFill>
                  <a:srgbClr val="FFFFFF"/>
                </a:solidFill>
                <a:latin typeface="Arial" pitchFamily="34" charset="0"/>
              </a:rPr>
              <a:t> Тесты и квизы</a:t>
            </a:r>
          </a:p>
        </p:txBody>
      </p:sp>
      <p:sp>
        <p:nvSpPr>
          <p:cNvPr id="33" name="Tag4"/>
          <p:cNvSpPr/>
          <p:nvPr/>
        </p:nvSpPr>
        <p:spPr>
          <a:xfrm>
            <a:off x="5212080" y="43432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ru-RU" sz="900" b="1" dirty="0">
                <a:solidFill>
                  <a:srgbClr val="FFFFFF"/>
                </a:solidFill>
                <a:latin typeface="Arial" pitchFamily="34" charset="0"/>
              </a:rPr>
              <a:t>Мои страны</a:t>
            </a:r>
          </a:p>
        </p:txBody>
      </p:sp>
      <p:sp>
        <p:nvSpPr>
          <p:cNvPr id="34" name="Tag5"/>
          <p:cNvSpPr/>
          <p:nvPr/>
        </p:nvSpPr>
        <p:spPr>
          <a:xfrm>
            <a:off x="6766560" y="434328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131E24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ru-RU" sz="900" b="1">
                <a:solidFill>
                  <a:srgbClr val="FFFFFF"/>
                </a:solidFill>
                <a:latin typeface="Arial" pitchFamily="34" charset="0"/>
              </a:rPr>
              <a:t>Авиабилеты</a:t>
            </a:r>
            <a:endParaRPr lang="ru-RU" sz="900" b="1" dirty="0">
              <a:solidFill>
                <a:srgbClr val="FFFFFF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ЦЕЛЕВАЯ</a:t>
            </a:r>
            <a:endParaRPr lang="en-US" sz="44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АУДИТОРИЯ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10" y="228600"/>
            <a:ext cx="1574650" cy="1574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CardLeft"/>
          <p:cNvSpPr/>
          <p:nvPr/>
        </p:nvSpPr>
        <p:spPr>
          <a:xfrm>
            <a:off x="411480" y="2837168"/>
            <a:ext cx="3840480" cy="2034540"/>
          </a:xfrm>
          <a:prstGeom prst="roundRect">
            <a:avLst>
              <a:gd name="adj" fmla="val 10000"/>
            </a:avLst>
          </a:prstGeom>
          <a:solidFill>
            <a:srgbClr val="EDE6DF"/>
          </a:solidFill>
          <a:ln w="12700">
            <a:solidFill>
              <a:srgbClr val="EDE6D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718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975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ШКОЛЬНИКИ</a:t>
            </a:r>
            <a:endParaRPr lang="en-US" sz="15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СТУДЕНТЫ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94360" y="3611880"/>
            <a:ext cx="3474720" cy="27432"/>
          </a:xfrm>
          <a:prstGeom prst="rect">
            <a:avLst/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10" name="Text 6MARKER"/>
          <p:cNvSpPr/>
          <p:nvPr/>
        </p:nvSpPr>
        <p:spPr>
          <a:xfrm>
            <a:off x="594360" y="3703320"/>
            <a:ext cx="3474720" cy="11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подготовка к урокам, экзаменам и олимпиадам. Традиционные учебники часто даются тяжело, особенно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географии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Наше приложение позволяет учить страны и столицы в игровой форме - это снижает барьер входа и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повышает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мотивацию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CardRight"/>
          <p:cNvSpPr/>
          <p:nvPr/>
        </p:nvSpPr>
        <p:spPr>
          <a:xfrm>
            <a:off x="4754880" y="2837168"/>
            <a:ext cx="3840480" cy="2011680"/>
          </a:xfrm>
          <a:prstGeom prst="roundRect">
            <a:avLst>
              <a:gd name="adj" fmla="val 10000"/>
            </a:avLst>
          </a:prstGeom>
          <a:solidFill>
            <a:srgbClr val="EDE6DF"/>
          </a:solidFill>
          <a:ln w="12700">
            <a:solidFill>
              <a:srgbClr val="EDE6D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9718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2975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ВЗРОСЛЫЕ</a:t>
            </a:r>
            <a:endParaRPr lang="en-US" sz="15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ПУТЕШЕСТВЕНН</a:t>
            </a:r>
            <a:r>
              <a:rPr lang="ru-RU" sz="15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ИКИ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983480" y="3611880"/>
            <a:ext cx="3474720" cy="27432"/>
          </a:xfrm>
          <a:prstGeom prst="rect">
            <a:avLst/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983480" y="3703320"/>
            <a:ext cx="3474720" cy="11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Люди, которые уже ездят по миру или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планируют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ru-RU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 и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нтересно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расширять кругозор и узнавать о странах больше: культуру, особенности, </a:t>
            </a:r>
            <a:r>
              <a:rPr lang="en-US" sz="1100" dirty="0" err="1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историю</a:t>
            </a:r>
            <a:r>
              <a:rPr lang="en-US" sz="11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410" cy="5143500"/>
          </a:xfrm>
          <a:prstGeom prst="rect">
            <a:avLst/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</a:t>
            </a:r>
            <a:endParaRPr lang="en-US" sz="5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НЫЕ</a:t>
            </a:r>
            <a:endParaRPr lang="en-US" sz="5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ЭКРА</a:t>
            </a:r>
            <a:endParaRPr lang="en-US" sz="5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НЫ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pic>
        <p:nvPicPr>
          <p:cNvPr id="9" name="object 7" descr="/home/claude/work/assets/phone_quiz.png">
            <a:extLst>
              <a:ext uri="{FF2B5EF4-FFF2-40B4-BE49-F238E27FC236}">
                <a16:creationId xmlns:a16="http://schemas.microsoft.com/office/drawing/2014/main" id="{8FA9A29F-5D1B-FAB5-2673-7B0128E3D6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2643" y="788936"/>
            <a:ext cx="2300280" cy="4080244"/>
          </a:xfrm>
          <a:prstGeom prst="rect">
            <a:avLst/>
          </a:prstGeom>
        </p:spPr>
      </p:pic>
      <p:pic>
        <p:nvPicPr>
          <p:cNvPr id="10" name="object 6" descr="/home/claude/work/assets/phone_rating.png">
            <a:extLst>
              <a:ext uri="{FF2B5EF4-FFF2-40B4-BE49-F238E27FC236}">
                <a16:creationId xmlns:a16="http://schemas.microsoft.com/office/drawing/2014/main" id="{C1C21DD7-7BA7-DE22-5F1E-B244E67D821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5637" y="745533"/>
            <a:ext cx="2300280" cy="4080243"/>
          </a:xfrm>
          <a:prstGeom prst="rect">
            <a:avLst/>
          </a:prstGeom>
        </p:spPr>
      </p:pic>
      <p:pic>
        <p:nvPicPr>
          <p:cNvPr id="11" name="object 5" descr="/home/claude/work/assets/phone_map.png">
            <a:extLst>
              <a:ext uri="{FF2B5EF4-FFF2-40B4-BE49-F238E27FC236}">
                <a16:creationId xmlns:a16="http://schemas.microsoft.com/office/drawing/2014/main" id="{48D19664-A652-09C6-55C4-A7D5828B745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9978" y="274321"/>
            <a:ext cx="2394371" cy="4080243"/>
          </a:xfrm>
          <a:prstGeom prst="rect">
            <a:avLst/>
          </a:prstGeom>
        </p:spPr>
      </p:pic>
      <p:sp>
        <p:nvSpPr>
          <p:cNvPr id="12" name="object 15">
            <a:extLst>
              <a:ext uri="{FF2B5EF4-FFF2-40B4-BE49-F238E27FC236}">
                <a16:creationId xmlns:a16="http://schemas.microsoft.com/office/drawing/2014/main" id="{354D81AE-C42D-C93B-05BA-665CA145278A}"/>
              </a:ext>
            </a:extLst>
          </p:cNvPr>
          <p:cNvSpPr/>
          <p:nvPr/>
        </p:nvSpPr>
        <p:spPr>
          <a:xfrm>
            <a:off x="5630142" y="4304454"/>
            <a:ext cx="1029176" cy="288131"/>
          </a:xfrm>
          <a:custGeom>
            <a:avLst/>
            <a:gdLst/>
            <a:ahLst/>
            <a:cxnLst/>
            <a:rect l="l" t="t" r="r" b="b"/>
            <a:pathLst>
              <a:path w="1372234" h="384175">
                <a:moveTo>
                  <a:pt x="1179728" y="0"/>
                </a:moveTo>
                <a:lnTo>
                  <a:pt x="192239" y="0"/>
                </a:lnTo>
                <a:lnTo>
                  <a:pt x="166480" y="1663"/>
                </a:lnTo>
                <a:lnTo>
                  <a:pt x="167000" y="1663"/>
                </a:lnTo>
                <a:lnTo>
                  <a:pt x="142741" y="6432"/>
                </a:lnTo>
                <a:lnTo>
                  <a:pt x="96481" y="25552"/>
                </a:lnTo>
                <a:lnTo>
                  <a:pt x="56615" y="56068"/>
                </a:lnTo>
                <a:lnTo>
                  <a:pt x="25920" y="95757"/>
                </a:lnTo>
                <a:lnTo>
                  <a:pt x="6934" y="142062"/>
                </a:lnTo>
                <a:lnTo>
                  <a:pt x="368" y="191871"/>
                </a:lnTo>
                <a:lnTo>
                  <a:pt x="0" y="192239"/>
                </a:lnTo>
                <a:lnTo>
                  <a:pt x="1660" y="217069"/>
                </a:lnTo>
                <a:lnTo>
                  <a:pt x="1671" y="217224"/>
                </a:lnTo>
                <a:lnTo>
                  <a:pt x="6616" y="241738"/>
                </a:lnTo>
                <a:lnTo>
                  <a:pt x="25920" y="287997"/>
                </a:lnTo>
                <a:lnTo>
                  <a:pt x="56437" y="327864"/>
                </a:lnTo>
                <a:lnTo>
                  <a:pt x="96126" y="358559"/>
                </a:lnTo>
                <a:lnTo>
                  <a:pt x="142430" y="377545"/>
                </a:lnTo>
                <a:lnTo>
                  <a:pt x="192239" y="384111"/>
                </a:lnTo>
                <a:lnTo>
                  <a:pt x="1179728" y="384111"/>
                </a:lnTo>
                <a:lnTo>
                  <a:pt x="1229308" y="377545"/>
                </a:lnTo>
                <a:lnTo>
                  <a:pt x="1275842" y="358190"/>
                </a:lnTo>
                <a:lnTo>
                  <a:pt x="1315713" y="327685"/>
                </a:lnTo>
                <a:lnTo>
                  <a:pt x="1346403" y="287997"/>
                </a:lnTo>
                <a:lnTo>
                  <a:pt x="1365380" y="241738"/>
                </a:lnTo>
                <a:lnTo>
                  <a:pt x="1371943" y="192239"/>
                </a:lnTo>
                <a:lnTo>
                  <a:pt x="1371943" y="191871"/>
                </a:lnTo>
                <a:lnTo>
                  <a:pt x="1365351" y="142419"/>
                </a:lnTo>
                <a:lnTo>
                  <a:pt x="1346047" y="96113"/>
                </a:lnTo>
                <a:lnTo>
                  <a:pt x="1315531" y="56246"/>
                </a:lnTo>
                <a:lnTo>
                  <a:pt x="1275842" y="25552"/>
                </a:lnTo>
                <a:lnTo>
                  <a:pt x="1229537" y="6565"/>
                </a:lnTo>
                <a:lnTo>
                  <a:pt x="1204918" y="1663"/>
                </a:lnTo>
                <a:lnTo>
                  <a:pt x="1179728" y="0"/>
                </a:lnTo>
                <a:close/>
              </a:path>
            </a:pathLst>
          </a:custGeom>
          <a:solidFill>
            <a:srgbClr val="B95B31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63EE29E-E823-0141-D012-0453F838FFFD}"/>
              </a:ext>
            </a:extLst>
          </p:cNvPr>
          <p:cNvSpPr/>
          <p:nvPr/>
        </p:nvSpPr>
        <p:spPr>
          <a:xfrm>
            <a:off x="3578496" y="520154"/>
            <a:ext cx="1028700" cy="288131"/>
          </a:xfrm>
          <a:custGeom>
            <a:avLst/>
            <a:gdLst/>
            <a:ahLst/>
            <a:cxnLst/>
            <a:rect l="l" t="t" r="r" b="b"/>
            <a:pathLst>
              <a:path w="1371600" h="384175">
                <a:moveTo>
                  <a:pt x="1179360" y="0"/>
                </a:moveTo>
                <a:lnTo>
                  <a:pt x="192239" y="0"/>
                </a:lnTo>
                <a:lnTo>
                  <a:pt x="166261" y="1663"/>
                </a:lnTo>
                <a:lnTo>
                  <a:pt x="166786" y="1663"/>
                </a:lnTo>
                <a:lnTo>
                  <a:pt x="142419" y="6432"/>
                </a:lnTo>
                <a:lnTo>
                  <a:pt x="96113" y="25552"/>
                </a:lnTo>
                <a:lnTo>
                  <a:pt x="56246" y="56068"/>
                </a:lnTo>
                <a:lnTo>
                  <a:pt x="25552" y="95757"/>
                </a:lnTo>
                <a:lnTo>
                  <a:pt x="6565" y="142062"/>
                </a:lnTo>
                <a:lnTo>
                  <a:pt x="0" y="191871"/>
                </a:lnTo>
                <a:lnTo>
                  <a:pt x="0" y="192239"/>
                </a:lnTo>
                <a:lnTo>
                  <a:pt x="6432" y="241738"/>
                </a:lnTo>
                <a:lnTo>
                  <a:pt x="25552" y="287997"/>
                </a:lnTo>
                <a:lnTo>
                  <a:pt x="56068" y="327864"/>
                </a:lnTo>
                <a:lnTo>
                  <a:pt x="95758" y="358559"/>
                </a:lnTo>
                <a:lnTo>
                  <a:pt x="142062" y="377545"/>
                </a:lnTo>
                <a:lnTo>
                  <a:pt x="191871" y="384111"/>
                </a:lnTo>
                <a:lnTo>
                  <a:pt x="1179715" y="384111"/>
                </a:lnTo>
                <a:lnTo>
                  <a:pt x="1228985" y="377545"/>
                </a:lnTo>
                <a:lnTo>
                  <a:pt x="1275473" y="358190"/>
                </a:lnTo>
                <a:lnTo>
                  <a:pt x="1315345" y="327685"/>
                </a:lnTo>
                <a:lnTo>
                  <a:pt x="1346034" y="287997"/>
                </a:lnTo>
                <a:lnTo>
                  <a:pt x="1365012" y="241738"/>
                </a:lnTo>
                <a:lnTo>
                  <a:pt x="1371575" y="192239"/>
                </a:lnTo>
                <a:lnTo>
                  <a:pt x="1371575" y="191871"/>
                </a:lnTo>
                <a:lnTo>
                  <a:pt x="1364983" y="142419"/>
                </a:lnTo>
                <a:lnTo>
                  <a:pt x="1345679" y="96113"/>
                </a:lnTo>
                <a:lnTo>
                  <a:pt x="1315162" y="56246"/>
                </a:lnTo>
                <a:lnTo>
                  <a:pt x="1275473" y="25552"/>
                </a:lnTo>
                <a:lnTo>
                  <a:pt x="1229169" y="6565"/>
                </a:lnTo>
                <a:lnTo>
                  <a:pt x="1204550" y="1663"/>
                </a:lnTo>
                <a:lnTo>
                  <a:pt x="1179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EB3CFF46-87A4-A00B-1094-251E950366A0}"/>
              </a:ext>
            </a:extLst>
          </p:cNvPr>
          <p:cNvSpPr/>
          <p:nvPr/>
        </p:nvSpPr>
        <p:spPr>
          <a:xfrm>
            <a:off x="7581427" y="514616"/>
            <a:ext cx="1028700" cy="288131"/>
          </a:xfrm>
          <a:custGeom>
            <a:avLst/>
            <a:gdLst/>
            <a:ahLst/>
            <a:cxnLst/>
            <a:rect l="l" t="t" r="r" b="b"/>
            <a:pathLst>
              <a:path w="1371600" h="384175">
                <a:moveTo>
                  <a:pt x="1179360" y="0"/>
                </a:moveTo>
                <a:lnTo>
                  <a:pt x="192239" y="0"/>
                </a:lnTo>
                <a:lnTo>
                  <a:pt x="166261" y="1663"/>
                </a:lnTo>
                <a:lnTo>
                  <a:pt x="166786" y="1663"/>
                </a:lnTo>
                <a:lnTo>
                  <a:pt x="142419" y="6432"/>
                </a:lnTo>
                <a:lnTo>
                  <a:pt x="96113" y="25552"/>
                </a:lnTo>
                <a:lnTo>
                  <a:pt x="56246" y="56068"/>
                </a:lnTo>
                <a:lnTo>
                  <a:pt x="25552" y="95757"/>
                </a:lnTo>
                <a:lnTo>
                  <a:pt x="6565" y="142062"/>
                </a:lnTo>
                <a:lnTo>
                  <a:pt x="0" y="191871"/>
                </a:lnTo>
                <a:lnTo>
                  <a:pt x="0" y="192239"/>
                </a:lnTo>
                <a:lnTo>
                  <a:pt x="6432" y="241738"/>
                </a:lnTo>
                <a:lnTo>
                  <a:pt x="25552" y="287997"/>
                </a:lnTo>
                <a:lnTo>
                  <a:pt x="56068" y="327864"/>
                </a:lnTo>
                <a:lnTo>
                  <a:pt x="95758" y="358559"/>
                </a:lnTo>
                <a:lnTo>
                  <a:pt x="142062" y="377545"/>
                </a:lnTo>
                <a:lnTo>
                  <a:pt x="191871" y="384111"/>
                </a:lnTo>
                <a:lnTo>
                  <a:pt x="1179715" y="384111"/>
                </a:lnTo>
                <a:lnTo>
                  <a:pt x="1228985" y="377545"/>
                </a:lnTo>
                <a:lnTo>
                  <a:pt x="1275473" y="358190"/>
                </a:lnTo>
                <a:lnTo>
                  <a:pt x="1315345" y="327685"/>
                </a:lnTo>
                <a:lnTo>
                  <a:pt x="1346034" y="287997"/>
                </a:lnTo>
                <a:lnTo>
                  <a:pt x="1365012" y="241738"/>
                </a:lnTo>
                <a:lnTo>
                  <a:pt x="1371575" y="192239"/>
                </a:lnTo>
                <a:lnTo>
                  <a:pt x="1371575" y="191871"/>
                </a:lnTo>
                <a:lnTo>
                  <a:pt x="1364983" y="142419"/>
                </a:lnTo>
                <a:lnTo>
                  <a:pt x="1345679" y="96113"/>
                </a:lnTo>
                <a:lnTo>
                  <a:pt x="1315162" y="56246"/>
                </a:lnTo>
                <a:lnTo>
                  <a:pt x="1275473" y="25552"/>
                </a:lnTo>
                <a:lnTo>
                  <a:pt x="1229169" y="6565"/>
                </a:lnTo>
                <a:lnTo>
                  <a:pt x="1204550" y="1663"/>
                </a:lnTo>
                <a:lnTo>
                  <a:pt x="1179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CA98B161-06F6-06CA-B3BF-000EB7A39527}"/>
              </a:ext>
            </a:extLst>
          </p:cNvPr>
          <p:cNvSpPr txBox="1"/>
          <p:nvPr/>
        </p:nvSpPr>
        <p:spPr>
          <a:xfrm>
            <a:off x="7842888" y="578851"/>
            <a:ext cx="505778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75" b="1" spc="-8" dirty="0">
                <a:solidFill>
                  <a:srgbClr val="091E2C"/>
                </a:solidFill>
                <a:latin typeface="Arial"/>
                <a:cs typeface="Arial"/>
              </a:rPr>
              <a:t>Рейтинг</a:t>
            </a:r>
            <a:endParaRPr sz="975" dirty="0">
              <a:latin typeface="Arial"/>
              <a:cs typeface="Arial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2C4A1577-3D19-DA74-33D9-FD193581E60B}"/>
              </a:ext>
            </a:extLst>
          </p:cNvPr>
          <p:cNvSpPr txBox="1"/>
          <p:nvPr/>
        </p:nvSpPr>
        <p:spPr>
          <a:xfrm>
            <a:off x="3889894" y="581247"/>
            <a:ext cx="505778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ru-RU" sz="975" b="1" spc="-8" dirty="0" err="1">
                <a:solidFill>
                  <a:srgbClr val="091E2C"/>
                </a:solidFill>
                <a:latin typeface="Arial"/>
                <a:cs typeface="Arial"/>
              </a:rPr>
              <a:t>Квизы</a:t>
            </a:r>
            <a:endParaRPr sz="975" dirty="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A4541836-2782-4AEC-B18E-0C987E1A5480}"/>
              </a:ext>
            </a:extLst>
          </p:cNvPr>
          <p:cNvSpPr txBox="1"/>
          <p:nvPr/>
        </p:nvSpPr>
        <p:spPr>
          <a:xfrm>
            <a:off x="5972473" y="4354564"/>
            <a:ext cx="505778" cy="15965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ru-RU" sz="975" b="1" spc="-8" dirty="0">
                <a:solidFill>
                  <a:schemeClr val="bg1"/>
                </a:solidFill>
                <a:latin typeface="Arial"/>
                <a:cs typeface="Arial"/>
              </a:rPr>
              <a:t>Карта</a:t>
            </a:r>
            <a:endParaRPr sz="975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6252" y="210312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ТЕКТУРА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852160" y="52447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СТЕК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852160" y="1143000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463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1901952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2221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+ Controllers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660904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06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H2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Встроенная БД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3419856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465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739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взаимодействие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52160" y="4178808"/>
            <a:ext cx="2834640" cy="64008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4224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OpenStreetMap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+ геокодинг</a:t>
            </a:r>
            <a:endParaRPr lang="en-US" sz="11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FE08BDE-19BB-EF66-1519-ED5F44A96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2" y="1660933"/>
            <a:ext cx="4647268" cy="31520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60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РЕАЛИЗАЦИЯ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36576"/>
          </a:xfrm>
          <a:prstGeom prst="roundRect">
            <a:avLst>
              <a:gd name="adj" fmla="val 8000"/>
            </a:avLst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29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Retrofit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20299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клиент для сетевых запросов к серверу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075688"/>
            <a:ext cx="32004" cy="320040"/>
          </a:xfrm>
          <a:prstGeom prst="roundRect">
            <a:avLst>
              <a:gd name="adj" fmla="val 8000"/>
            </a:avLst>
          </a:prstGeom>
          <a:solidFill>
            <a:srgbClr val="C46033"/>
          </a:solidFill>
          <a:ln w="12700">
            <a:solidFill>
              <a:srgbClr val="C460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42032"/>
            <a:ext cx="8229600" cy="18288"/>
          </a:xfrm>
          <a:prstGeom prst="roundRect">
            <a:avLst>
              <a:gd name="adj" fmla="val 8000"/>
            </a:avLst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151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Osmdroid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615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для отображения OpenStreetMap карт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2660904"/>
            <a:ext cx="32004" cy="320040"/>
          </a:xfrm>
          <a:prstGeom prst="roundRect">
            <a:avLst>
              <a:gd name="adj" fmla="val 8000"/>
            </a:avLst>
          </a:prstGeom>
          <a:solidFill>
            <a:srgbClr val="C46033"/>
          </a:solidFill>
          <a:ln w="12700">
            <a:solidFill>
              <a:srgbClr val="C460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27248"/>
            <a:ext cx="8229600" cy="18288"/>
          </a:xfrm>
          <a:prstGeom prst="roundRect">
            <a:avLst>
              <a:gd name="adj" fmla="val 8000"/>
            </a:avLst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OpenStreetMap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Бесплатные карты всего мира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3246120"/>
            <a:ext cx="32004" cy="320040"/>
          </a:xfrm>
          <a:prstGeom prst="roundRect">
            <a:avLst>
              <a:gd name="adj" fmla="val 8000"/>
            </a:avLst>
          </a:prstGeom>
          <a:solidFill>
            <a:srgbClr val="C46033"/>
          </a:solidFill>
          <a:ln w="12700">
            <a:solidFill>
              <a:srgbClr val="C460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12464"/>
            <a:ext cx="8229600" cy="18288"/>
          </a:xfrm>
          <a:prstGeom prst="roundRect">
            <a:avLst>
              <a:gd name="adj" fmla="val 8000"/>
            </a:avLst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Дисковый кэш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78561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Папка cache хранит флаги стран и фотографии в виде файлов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831336"/>
            <a:ext cx="32004" cy="320040"/>
          </a:xfrm>
          <a:prstGeom prst="roundRect">
            <a:avLst>
              <a:gd name="adj" fmla="val 8000"/>
            </a:avLst>
          </a:prstGeom>
          <a:solidFill>
            <a:srgbClr val="C46033"/>
          </a:solidFill>
          <a:ln w="12700">
            <a:solidFill>
              <a:srgbClr val="C460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97680"/>
            <a:ext cx="8229600" cy="18288"/>
          </a:xfrm>
          <a:prstGeom prst="roundRect">
            <a:avLst>
              <a:gd name="adj" fmla="val 8000"/>
            </a:avLst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70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6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43708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Fronted полностью связан с Backend через REST 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0" y="4416552"/>
            <a:ext cx="32004" cy="320040"/>
          </a:xfrm>
          <a:prstGeom prst="roundRect">
            <a:avLst>
              <a:gd name="adj" fmla="val 8000"/>
            </a:avLst>
          </a:prstGeom>
          <a:solidFill>
            <a:srgbClr val="C46033"/>
          </a:solidFill>
          <a:ln w="12700">
            <a:solidFill>
              <a:srgbClr val="C460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1" y="299956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60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РЕАЛИЗАЦИЯ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57200" y="2006291"/>
            <a:ext cx="8229600" cy="36576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435243"/>
            <a:ext cx="3840481" cy="2133164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35689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СТЕК И</a:t>
            </a:r>
            <a:endParaRPr lang="en-US" sz="2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ИНФРАСТРУКТУРА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468515"/>
            <a:ext cx="3291840" cy="27432"/>
          </a:xfrm>
          <a:prstGeom prst="roundRect">
            <a:avLst>
              <a:gd name="adj" fmla="val 8000"/>
            </a:avLst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86615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на Spring Boot, развернутый в Docker на платформе Render. БД H2 работает через Spring Data JPA и Hibernate.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435243"/>
            <a:ext cx="3840480" cy="2133164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 w="12700">
            <a:solidFill>
              <a:srgbClr val="F0EB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735689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ИНТЕГРАЦИИ И</a:t>
            </a:r>
            <a:endParaRPr lang="en-US" sz="2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БЕЗОПАСНОСТЬ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3433572"/>
            <a:ext cx="3291840" cy="27432"/>
          </a:xfrm>
          <a:prstGeom prst="roundRect">
            <a:avLst>
              <a:gd name="adj" fmla="val 8000"/>
            </a:avLst>
          </a:prstGeom>
          <a:solidFill>
            <a:srgbClr val="D0C8C0"/>
          </a:solidFill>
          <a:ln w="12700">
            <a:solidFill>
              <a:srgbClr val="D0C8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258203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RestCountries, Pixabay и Flagcdn API. Безопасность на Spring Security: BCrypt хэширование и JWT аутентификация.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" y="267711"/>
            <a:ext cx="6159137" cy="15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ПЕРСПЕК</a:t>
            </a:r>
            <a:r>
              <a:rPr lang="ru-RU" sz="5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ТИВ</a:t>
            </a:r>
            <a:r>
              <a:rPr lang="en-US" sz="5000" b="1" dirty="0">
                <a:solidFill>
                  <a:srgbClr val="13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Ы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82420" y="3132187"/>
            <a:ext cx="4256858" cy="1933684"/>
          </a:xfrm>
          <a:prstGeom prst="roundRect">
            <a:avLst>
              <a:gd name="adj" fmla="val 8000"/>
            </a:avLst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155" y="3189332"/>
            <a:ext cx="3151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КНИГА ПУТЕШЕСТВЕННИКА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2093" y="3290573"/>
            <a:ext cx="3766705" cy="209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просто отмечает «был», а добавляет год посещения и пару предложений-воспоминаний. Приложение копит эти заметки вместе с краткими фактами о странах, а через время собирает всё в персонализированный PDF - «книгу путешественника».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9200" y="457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16000" dirty="0"/>
          </a:p>
        </p:txBody>
      </p:sp>
      <p:sp>
        <p:nvSpPr>
          <p:cNvPr id="15" name="Divider">
            <a:extLst>
              <a:ext uri="{FF2B5EF4-FFF2-40B4-BE49-F238E27FC236}">
                <a16:creationId xmlns:a16="http://schemas.microsoft.com/office/drawing/2014/main" id="{8F974085-37BE-C927-2479-3EAD1ABC7EC1}"/>
              </a:ext>
            </a:extLst>
          </p:cNvPr>
          <p:cNvSpPr/>
          <p:nvPr/>
        </p:nvSpPr>
        <p:spPr>
          <a:xfrm>
            <a:off x="405864" y="3625856"/>
            <a:ext cx="3708015" cy="45719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65E92614-2DFA-E6CC-D6F5-4F6B2DB87617}"/>
              </a:ext>
            </a:extLst>
          </p:cNvPr>
          <p:cNvSpPr/>
          <p:nvPr/>
        </p:nvSpPr>
        <p:spPr>
          <a:xfrm>
            <a:off x="4684149" y="3117857"/>
            <a:ext cx="4256858" cy="1933684"/>
          </a:xfrm>
          <a:prstGeom prst="roundRect">
            <a:avLst>
              <a:gd name="adj" fmla="val 8000"/>
            </a:avLst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46E00D9F-EA8E-8F81-45E6-FCDB8165DC60}"/>
              </a:ext>
            </a:extLst>
          </p:cNvPr>
          <p:cNvSpPr/>
          <p:nvPr/>
        </p:nvSpPr>
        <p:spPr>
          <a:xfrm>
            <a:off x="184512" y="1044471"/>
            <a:ext cx="4256858" cy="1933684"/>
          </a:xfrm>
          <a:prstGeom prst="roundRect">
            <a:avLst>
              <a:gd name="adj" fmla="val 8000"/>
            </a:avLst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5EFED30F-28EA-1BE9-83BE-FFE2A92F5F5D}"/>
              </a:ext>
            </a:extLst>
          </p:cNvPr>
          <p:cNvSpPr/>
          <p:nvPr/>
        </p:nvSpPr>
        <p:spPr>
          <a:xfrm>
            <a:off x="4668438" y="1030330"/>
            <a:ext cx="4256858" cy="1933684"/>
          </a:xfrm>
          <a:prstGeom prst="roundRect">
            <a:avLst>
              <a:gd name="adj" fmla="val 8000"/>
            </a:avLst>
          </a:prstGeom>
          <a:solidFill>
            <a:srgbClr val="131E24"/>
          </a:solidFill>
          <a:ln w="12700">
            <a:solidFill>
              <a:srgbClr val="131E24"/>
            </a:solidFill>
            <a:prstDash val="solid"/>
          </a:ln>
        </p:spPr>
      </p:sp>
      <p:sp>
        <p:nvSpPr>
          <p:cNvPr id="25" name="Divider">
            <a:extLst>
              <a:ext uri="{FF2B5EF4-FFF2-40B4-BE49-F238E27FC236}">
                <a16:creationId xmlns:a16="http://schemas.microsoft.com/office/drawing/2014/main" id="{AD47C553-93DA-1C3F-1DCE-7A57773A696D}"/>
              </a:ext>
            </a:extLst>
          </p:cNvPr>
          <p:cNvSpPr/>
          <p:nvPr/>
        </p:nvSpPr>
        <p:spPr>
          <a:xfrm>
            <a:off x="458934" y="1554481"/>
            <a:ext cx="3708015" cy="45719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26" name="Divider">
            <a:extLst>
              <a:ext uri="{FF2B5EF4-FFF2-40B4-BE49-F238E27FC236}">
                <a16:creationId xmlns:a16="http://schemas.microsoft.com/office/drawing/2014/main" id="{FEA2411B-30EC-733A-30E9-548BD8CF2576}"/>
              </a:ext>
            </a:extLst>
          </p:cNvPr>
          <p:cNvSpPr/>
          <p:nvPr/>
        </p:nvSpPr>
        <p:spPr>
          <a:xfrm>
            <a:off x="4978785" y="1549951"/>
            <a:ext cx="3708015" cy="45719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27" name="Divider">
            <a:extLst>
              <a:ext uri="{FF2B5EF4-FFF2-40B4-BE49-F238E27FC236}">
                <a16:creationId xmlns:a16="http://schemas.microsoft.com/office/drawing/2014/main" id="{E8D44486-2FBD-1F6A-8C9B-3F13E2E10460}"/>
              </a:ext>
            </a:extLst>
          </p:cNvPr>
          <p:cNvSpPr/>
          <p:nvPr/>
        </p:nvSpPr>
        <p:spPr>
          <a:xfrm>
            <a:off x="4975110" y="3625856"/>
            <a:ext cx="3708015" cy="45719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FFEF707-E813-E627-3BEF-A70EB0589345}"/>
              </a:ext>
            </a:extLst>
          </p:cNvPr>
          <p:cNvSpPr/>
          <p:nvPr/>
        </p:nvSpPr>
        <p:spPr>
          <a:xfrm>
            <a:off x="5066959" y="3189684"/>
            <a:ext cx="3803539" cy="209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Приложение позволяет сохранять интересующие направления и формировать персональный список будущих путешествий.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7610E374-3C68-2563-700C-FEA936317BE4}"/>
              </a:ext>
            </a:extLst>
          </p:cNvPr>
          <p:cNvSpPr/>
          <p:nvPr/>
        </p:nvSpPr>
        <p:spPr>
          <a:xfrm>
            <a:off x="5861144" y="3182100"/>
            <a:ext cx="3151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chemeClr val="bg1"/>
                </a:solidFill>
                <a:latin typeface="Arial Black" panose="020B0A04020102020204" pitchFamily="34" charset="0"/>
              </a:rPr>
              <a:t>СПИСОК ЖЕЛАНИЙ</a:t>
            </a:r>
            <a:endParaRPr lang="en-U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289C0EEE-5620-0BBC-AAC1-FF9AD136BC3B}"/>
              </a:ext>
            </a:extLst>
          </p:cNvPr>
          <p:cNvSpPr/>
          <p:nvPr/>
        </p:nvSpPr>
        <p:spPr>
          <a:xfrm>
            <a:off x="966656" y="1069890"/>
            <a:ext cx="3151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chemeClr val="bg1"/>
                </a:solidFill>
                <a:latin typeface="Arial Black" panose="020B0A04020102020204" pitchFamily="34" charset="0"/>
              </a:rPr>
              <a:t>ВИЗОВАЯ ИНФОРМАЦИЯ</a:t>
            </a:r>
            <a:endParaRPr lang="en-U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16CAE40-2689-ED87-7808-5BED7F6BCCCE}"/>
              </a:ext>
            </a:extLst>
          </p:cNvPr>
          <p:cNvSpPr/>
          <p:nvPr/>
        </p:nvSpPr>
        <p:spPr>
          <a:xfrm>
            <a:off x="5531712" y="1092750"/>
            <a:ext cx="315141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chemeClr val="bg1"/>
                </a:solidFill>
                <a:latin typeface="Arial Black" panose="020B0A04020102020204" pitchFamily="34" charset="0"/>
              </a:rPr>
              <a:t>НАЦИОНАЛЬНАЯ КУХНЯ</a:t>
            </a:r>
            <a:endParaRPr lang="en-US" sz="1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11A2952-9DFB-92D7-0509-57EF15B25B5B}"/>
              </a:ext>
            </a:extLst>
          </p:cNvPr>
          <p:cNvSpPr/>
          <p:nvPr/>
        </p:nvSpPr>
        <p:spPr>
          <a:xfrm>
            <a:off x="547108" y="1128127"/>
            <a:ext cx="3803539" cy="209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учитывает гражданство и подсказывает, нужна ли виза. Для каждой выбранной страны отображается информация о визовом режиме, что помогает заранее оценить требования для поездки.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DF0A55BB-F944-7C76-EB80-33B3CFD68C52}"/>
              </a:ext>
            </a:extLst>
          </p:cNvPr>
          <p:cNvSpPr/>
          <p:nvPr/>
        </p:nvSpPr>
        <p:spPr>
          <a:xfrm>
            <a:off x="5149920" y="1128127"/>
            <a:ext cx="3803539" cy="209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каждой страны предлагаются два–три национальных блюда и короткий видео-рецепт. Пользователь может познакомиться с местной кухней через простые блюда, которые реально приготовить дома.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APK"/>
          <p:cNvSpPr/>
          <p:nvPr/>
        </p:nvSpPr>
        <p:spPr>
          <a:xfrm>
            <a:off x="422093" y="643345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0" b="1" dirty="0">
                <a:solidFill>
                  <a:schemeClr val="bg1"/>
                </a:solidFill>
                <a:latin typeface="Arial Black" pitchFamily="34" charset="0"/>
              </a:rPr>
              <a:t>APK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2168434"/>
            <a:ext cx="2743200" cy="45720"/>
          </a:xfrm>
          <a:prstGeom prst="roundRect">
            <a:avLst>
              <a:gd name="adj" fmla="val 50000"/>
            </a:avLst>
          </a:prstGeom>
          <a:solidFill>
            <a:srgbClr val="C46033"/>
          </a:solidFill>
          <a:ln>
            <a:noFill/>
          </a:ln>
        </p:spPr>
      </p:sp>
      <p:sp>
        <p:nvSpPr>
          <p:cNvPr id="20" name="UsersLabel"/>
          <p:cNvSpPr/>
          <p:nvPr/>
        </p:nvSpPr>
        <p:spPr>
          <a:xfrm>
            <a:off x="457200" y="249010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1000" b="1" dirty="0">
                <a:solidFill>
                  <a:srgbClr val="C46033"/>
                </a:solidFill>
                <a:latin typeface="Arial Black" pitchFamily="34" charset="0"/>
              </a:rPr>
              <a:t>Тестовые пользователи</a:t>
            </a:r>
          </a:p>
        </p:txBody>
      </p:sp>
      <p:sp>
        <p:nvSpPr>
          <p:cNvPr id="21" name="UserRow1"/>
          <p:cNvSpPr/>
          <p:nvPr/>
        </p:nvSpPr>
        <p:spPr>
          <a:xfrm>
            <a:off x="457200" y="2764426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1E2D36"/>
          </a:solidFill>
          <a:ln>
            <a:noFill/>
          </a:ln>
        </p:spPr>
        <p:txBody>
          <a:bodyPr wrap="square" lIns="114300" tIns="57150" rIns="114300" bIns="57150" rtlCol="0" anchor="t"/>
          <a:lstStyle/>
          <a:p>
            <a:pPr algn="l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C46033"/>
                </a:solidFill>
                <a:latin typeface="Arial" pitchFamily="34" charset="0"/>
              </a:rPr>
              <a:t>01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Логин: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test-user1@gmail.com  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Пароль: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test1</a:t>
            </a:r>
          </a:p>
        </p:txBody>
      </p:sp>
      <p:sp>
        <p:nvSpPr>
          <p:cNvPr id="22" name="UserRow2"/>
          <p:cNvSpPr/>
          <p:nvPr/>
        </p:nvSpPr>
        <p:spPr>
          <a:xfrm>
            <a:off x="457200" y="3077935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1E2D36"/>
          </a:solidFill>
          <a:ln>
            <a:noFill/>
          </a:ln>
        </p:spPr>
        <p:txBody>
          <a:bodyPr wrap="square" lIns="114300" tIns="57150" rIns="114300" bIns="57150" rtlCol="0" anchor="t"/>
          <a:lstStyle/>
          <a:p>
            <a:pPr algn="l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C46033"/>
                </a:solidFill>
                <a:latin typeface="Arial" pitchFamily="34" charset="0"/>
              </a:rPr>
              <a:t>02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Логин: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test-user2@gmail.com  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Пароль: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test2</a:t>
            </a:r>
          </a:p>
        </p:txBody>
      </p:sp>
      <p:sp>
        <p:nvSpPr>
          <p:cNvPr id="23" name="UserRow3"/>
          <p:cNvSpPr/>
          <p:nvPr/>
        </p:nvSpPr>
        <p:spPr>
          <a:xfrm>
            <a:off x="457200" y="3391444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1E2D36"/>
          </a:solidFill>
          <a:ln>
            <a:noFill/>
          </a:ln>
        </p:spPr>
        <p:txBody>
          <a:bodyPr wrap="square" lIns="114300" tIns="57150" rIns="114300" bIns="57150" rtlCol="0" anchor="t"/>
          <a:lstStyle/>
          <a:p>
            <a:pPr algn="l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C46033"/>
                </a:solidFill>
                <a:latin typeface="Arial" pitchFamily="34" charset="0"/>
              </a:rPr>
              <a:t>03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Логин: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test-user3@gmail.com  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Пароль: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test3</a:t>
            </a:r>
          </a:p>
        </p:txBody>
      </p:sp>
      <p:sp>
        <p:nvSpPr>
          <p:cNvPr id="24" name="UserRow4"/>
          <p:cNvSpPr/>
          <p:nvPr/>
        </p:nvSpPr>
        <p:spPr>
          <a:xfrm>
            <a:off x="457200" y="3704953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1E2D36"/>
          </a:solidFill>
          <a:ln>
            <a:noFill/>
          </a:ln>
        </p:spPr>
        <p:txBody>
          <a:bodyPr wrap="square" lIns="114300" tIns="57150" rIns="114300" bIns="57150" rtlCol="0" anchor="t"/>
          <a:lstStyle/>
          <a:p>
            <a:pPr algn="l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C46033"/>
                </a:solidFill>
                <a:latin typeface="Arial" pitchFamily="34" charset="0"/>
              </a:rPr>
              <a:t>04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Логин: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test-user4@gmail.com  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Пароль: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test4</a:t>
            </a:r>
          </a:p>
        </p:txBody>
      </p:sp>
      <p:sp>
        <p:nvSpPr>
          <p:cNvPr id="25" name="UserRow5"/>
          <p:cNvSpPr/>
          <p:nvPr/>
        </p:nvSpPr>
        <p:spPr>
          <a:xfrm>
            <a:off x="457200" y="4018462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1E2D36"/>
          </a:solidFill>
          <a:ln>
            <a:noFill/>
          </a:ln>
        </p:spPr>
        <p:txBody>
          <a:bodyPr wrap="square" lIns="114300" tIns="57150" rIns="114300" bIns="57150" rtlCol="0" anchor="t"/>
          <a:lstStyle/>
          <a:p>
            <a:pPr algn="l">
              <a:lnSpc>
                <a:spcPts val="1400"/>
              </a:lnSpc>
              <a:buNone/>
            </a:pPr>
            <a:r>
              <a:rPr lang="en-US" sz="800" b="1" dirty="0">
                <a:solidFill>
                  <a:srgbClr val="C46033"/>
                </a:solidFill>
                <a:latin typeface="Arial" pitchFamily="34" charset="0"/>
              </a:rPr>
              <a:t>05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Логин: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test-user5@gmail.com    </a:t>
            </a:r>
            <a:r>
              <a:rPr lang="ru-RU" sz="800" dirty="0">
                <a:solidFill>
                  <a:srgbClr val="8A9BAA"/>
                </a:solidFill>
                <a:latin typeface="Arial" pitchFamily="34" charset="0"/>
              </a:rPr>
              <a:t>Пароль: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test5</a:t>
            </a:r>
          </a:p>
        </p:txBody>
      </p:sp>
      <p:sp>
        <p:nvSpPr>
          <p:cNvPr id="7" name="QRCard"/>
          <p:cNvSpPr/>
          <p:nvPr/>
        </p:nvSpPr>
        <p:spPr>
          <a:xfrm>
            <a:off x="4800600" y="835266"/>
            <a:ext cx="3886200" cy="3684483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>
            <a:noFill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28F613-E22F-CB5A-9444-7B36E214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754" y="941561"/>
            <a:ext cx="3471891" cy="3471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490</Words>
  <Application>Microsoft Office PowerPoint</Application>
  <PresentationFormat>Экран (16:9)</PresentationFormat>
  <Paragraphs>89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 Narrow</vt:lpstr>
      <vt:lpstr>Arial</vt:lpstr>
      <vt:lpstr>Arial Black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Артем Павлычев</cp:lastModifiedBy>
  <cp:revision>6</cp:revision>
  <dcterms:created xsi:type="dcterms:W3CDTF">2026-06-06T23:03:18Z</dcterms:created>
  <dcterms:modified xsi:type="dcterms:W3CDTF">2026-06-09T14:33:39Z</dcterms:modified>
</cp:coreProperties>
</file>